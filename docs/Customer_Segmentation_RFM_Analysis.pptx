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9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7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" name="Google Shape;20;p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" name="Google Shape;40;p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6" name="Google Shape;66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5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5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6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6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6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6" name="Google Shape;126;p7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7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3" name="Google Shape;153;p8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77" name="Google Shape;177;p9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8" name="Google Shape;178;p9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3" name="Google Shape;193;p10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0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11:notes"/>
          <p:cNvSpPr txBox="1">
            <a:spLocks noGrp="1"/>
          </p:cNvSpPr>
          <p:nvPr>
            <p:ph type="body" idx="1"/>
          </p:nvPr>
        </p:nvSpPr>
        <p:spPr>
          <a:xfrm>
            <a:off x="685800" y="5791200"/>
            <a:ext cx="5486400" cy="54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914400"/>
            <a:ext cx="4572225" cy="4572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6" name="Google Shape;246;p12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12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67" name="Google Shape;267;p13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13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0" y="0"/>
            <a:ext cx="3000000" cy="3000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9" name="Google Shape;299;p1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1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8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3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3"/>
          <p:cNvSpPr txBox="1"/>
          <p:nvPr/>
        </p:nvSpPr>
        <p:spPr>
          <a:xfrm>
            <a:off x="822960" y="1965960"/>
            <a:ext cx="9144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lang="en-US" sz="1300" b="1" i="0" u="none" strike="noStrike" cap="none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DATA ANALYTICS PORTFOLIO PROJECT</a:t>
            </a:r>
            <a:endParaRPr sz="13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 txBox="1"/>
          <p:nvPr/>
        </p:nvSpPr>
        <p:spPr>
          <a:xfrm>
            <a:off x="822960" y="2377440"/>
            <a:ext cx="10058400" cy="1920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Customer Segmentation Using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Cambria"/>
              <a:buNone/>
            </a:pPr>
            <a:r>
              <a:rPr lang="en-US" sz="4200" b="1" i="0" u="none" strike="noStrike" cap="none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RFM Analysis in E-Commerce</a:t>
            </a:r>
            <a:endParaRPr sz="4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3"/>
          <p:cNvSpPr txBox="1"/>
          <p:nvPr/>
        </p:nvSpPr>
        <p:spPr>
          <a:xfrm>
            <a:off x="822960" y="4343400"/>
            <a:ext cx="8686800" cy="731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Turning 541,909 transactions into a Recency-Frequency-Monetary segmentation model,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1500"/>
              <a:buFont typeface="Calibri"/>
              <a:buNone/>
            </a:pPr>
            <a:r>
              <a:rPr lang="en-US" sz="1500" b="0" i="0" u="none" strike="noStrike" cap="none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ranked deciles, and targeted retention strategy.</a:t>
            </a:r>
            <a:endParaRPr sz="15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Calibri"/>
              <a:buNone/>
            </a:pPr>
            <a:r>
              <a:rPr lang="en-US" sz="1400" b="1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Kusam Bhagat  |  Data Analyst</a:t>
            </a:r>
            <a:endParaRPr sz="14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Problem Statement &amp; Objective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" name="Google Shape;24;p4"/>
          <p:cNvSpPr/>
          <p:nvPr/>
        </p:nvSpPr>
        <p:spPr>
          <a:xfrm>
            <a:off x="548640" y="1280160"/>
            <a:ext cx="5394960" cy="493776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" name="Google Shape;25;p4"/>
          <p:cNvSpPr txBox="1"/>
          <p:nvPr/>
        </p:nvSpPr>
        <p:spPr>
          <a:xfrm>
            <a:off x="868680" y="155448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722B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C9722B"/>
                </a:solidFill>
                <a:latin typeface="Calibri"/>
                <a:ea typeface="Calibri"/>
                <a:cs typeface="Calibri"/>
                <a:sym typeface="Calibri"/>
              </a:rPr>
              <a:t>THE PROBLEM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4"/>
          <p:cNvSpPr txBox="1"/>
          <p:nvPr/>
        </p:nvSpPr>
        <p:spPr>
          <a:xfrm>
            <a:off x="868680" y="1965960"/>
            <a:ext cx="4754880" cy="2926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550"/>
              <a:buFont typeface="Calibri"/>
              <a:buNone/>
            </a:pPr>
            <a:r>
              <a:rPr lang="en-US" sz="15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E-commerce businesses generate huge volumes of transactional data but struggle to turn it into actionable customer segmentation. Without a structured approach, it's difficult to identify high-value customers, spot at-risk buyers, and target marketing spend where it will actually pay off — directly affecting retention, churn, and customer lifetime value.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4"/>
          <p:cNvSpPr txBox="1"/>
          <p:nvPr/>
        </p:nvSpPr>
        <p:spPr>
          <a:xfrm>
            <a:off x="6309360" y="1554480"/>
            <a:ext cx="5029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722B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C9722B"/>
                </a:solidFill>
                <a:latin typeface="Calibri"/>
                <a:ea typeface="Calibri"/>
                <a:cs typeface="Calibri"/>
                <a:sym typeface="Calibri"/>
              </a:rPr>
              <a:t>OBJECTIVE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6309360" y="2011680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" name="Google Shape;29;p4"/>
          <p:cNvSpPr txBox="1"/>
          <p:nvPr/>
        </p:nvSpPr>
        <p:spPr>
          <a:xfrm>
            <a:off x="6309360" y="201168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2"/>
              <a:buFont typeface="Calibri"/>
              <a:buNone/>
            </a:pPr>
            <a:r>
              <a:rPr lang="en-US" sz="1092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9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 txBox="1"/>
          <p:nvPr/>
        </p:nvSpPr>
        <p:spPr>
          <a:xfrm>
            <a:off x="6903720" y="1956816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Apply RFM (Recency, Frequency, Monetary) analysis to segment customers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6309360" y="3200400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/>
          <p:nvPr/>
        </p:nvSpPr>
        <p:spPr>
          <a:xfrm>
            <a:off x="6309360" y="320040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2"/>
              <a:buFont typeface="Calibri"/>
              <a:buNone/>
            </a:pPr>
            <a:r>
              <a:rPr lang="en-US" sz="1092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9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 txBox="1"/>
          <p:nvPr/>
        </p:nvSpPr>
        <p:spPr>
          <a:xfrm>
            <a:off x="6903720" y="3145536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Rank customers into revenue deciles to isolate top and low-performing groups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6309360" y="4389120"/>
            <a:ext cx="384048" cy="384048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6309360" y="4389120"/>
            <a:ext cx="384048" cy="3840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92"/>
              <a:buFont typeface="Calibri"/>
              <a:buNone/>
            </a:pPr>
            <a:r>
              <a:rPr lang="en-US" sz="1092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92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 txBox="1"/>
          <p:nvPr/>
        </p:nvSpPr>
        <p:spPr>
          <a:xfrm>
            <a:off x="6903720" y="4334256"/>
            <a:ext cx="466344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Translate findings into targeted retention, re-engagement, and upselling strategies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 txBox="1"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38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385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5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Dataset Overview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5"/>
          <p:cNvSpPr/>
          <p:nvPr/>
        </p:nvSpPr>
        <p:spPr>
          <a:xfrm>
            <a:off x="548640" y="1371600"/>
            <a:ext cx="3246120" cy="1554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" name="Google Shape;45;p5"/>
          <p:cNvSpPr txBox="1"/>
          <p:nvPr/>
        </p:nvSpPr>
        <p:spPr>
          <a:xfrm>
            <a:off x="548640" y="1481328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541,909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5"/>
          <p:cNvSpPr txBox="1"/>
          <p:nvPr/>
        </p:nvSpPr>
        <p:spPr>
          <a:xfrm>
            <a:off x="548640" y="228600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transaction rows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5"/>
          <p:cNvSpPr/>
          <p:nvPr/>
        </p:nvSpPr>
        <p:spPr>
          <a:xfrm>
            <a:off x="4069080" y="1371600"/>
            <a:ext cx="3246120" cy="1554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5"/>
          <p:cNvSpPr txBox="1"/>
          <p:nvPr/>
        </p:nvSpPr>
        <p:spPr>
          <a:xfrm>
            <a:off x="4069080" y="1481328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8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"/>
          <p:cNvSpPr txBox="1"/>
          <p:nvPr/>
        </p:nvSpPr>
        <p:spPr>
          <a:xfrm>
            <a:off x="4069080" y="228600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raw columns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7589520" y="1371600"/>
            <a:ext cx="3246120" cy="155448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" name="Google Shape;51;p5"/>
          <p:cNvSpPr txBox="1"/>
          <p:nvPr/>
        </p:nvSpPr>
        <p:spPr>
          <a:xfrm>
            <a:off x="7589520" y="1481328"/>
            <a:ext cx="324612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mbria"/>
              <a:buNone/>
            </a:pPr>
            <a:r>
              <a:rPr lang="en-US" sz="34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12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5"/>
          <p:cNvSpPr txBox="1"/>
          <p:nvPr/>
        </p:nvSpPr>
        <p:spPr>
          <a:xfrm>
            <a:off x="7589520" y="2286000"/>
            <a:ext cx="324612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months of activity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5"/>
          <p:cNvSpPr txBox="1"/>
          <p:nvPr/>
        </p:nvSpPr>
        <p:spPr>
          <a:xfrm>
            <a:off x="548640" y="3200400"/>
            <a:ext cx="1024128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385"/>
              </a:buClr>
              <a:buSzPts val="1400"/>
              <a:buFont typeface="Calibri"/>
              <a:buNone/>
            </a:pPr>
            <a:r>
              <a:rPr lang="en-US" sz="1400" i="1">
                <a:solidFill>
                  <a:srgbClr val="6B7385"/>
                </a:solidFill>
                <a:latin typeface="Calibri"/>
                <a:ea typeface="Calibri"/>
                <a:cs typeface="Calibri"/>
                <a:sym typeface="Calibri"/>
              </a:rPr>
              <a:t>A UK-based online retailer's transaction log, covering 01 Dec 2010 – 09 Dec 2011 (final month partial).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 txBox="1"/>
          <p:nvPr/>
        </p:nvSpPr>
        <p:spPr>
          <a:xfrm>
            <a:off x="548640" y="3794760"/>
            <a:ext cx="45720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722B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C9722B"/>
                </a:solidFill>
                <a:latin typeface="Calibri"/>
                <a:ea typeface="Calibri"/>
                <a:cs typeface="Calibri"/>
                <a:sym typeface="Calibri"/>
              </a:rPr>
              <a:t>KEY VARIABLES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 txBox="1"/>
          <p:nvPr/>
        </p:nvSpPr>
        <p:spPr>
          <a:xfrm>
            <a:off x="548640" y="4206240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InvoiceNo  </a:t>
            </a: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Unique transaction / order ID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 txBox="1"/>
          <p:nvPr/>
        </p:nvSpPr>
        <p:spPr>
          <a:xfrm>
            <a:off x="5806440" y="4206240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StockCode  </a:t>
            </a: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Unique product identifier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" name="Google Shape;57;p5"/>
          <p:cNvSpPr txBox="1"/>
          <p:nvPr/>
        </p:nvSpPr>
        <p:spPr>
          <a:xfrm>
            <a:off x="548640" y="4773168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Description  </a:t>
            </a: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Product description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5806440" y="4773168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Quantity  </a:t>
            </a: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Units purchased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 txBox="1"/>
          <p:nvPr/>
        </p:nvSpPr>
        <p:spPr>
          <a:xfrm>
            <a:off x="548640" y="5340096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InvoiceDate  </a:t>
            </a: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Timestamp of purchase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 txBox="1"/>
          <p:nvPr/>
        </p:nvSpPr>
        <p:spPr>
          <a:xfrm>
            <a:off x="5806440" y="5340096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UnitPrice  </a:t>
            </a: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Price per unit (GBP)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 txBox="1"/>
          <p:nvPr/>
        </p:nvSpPr>
        <p:spPr>
          <a:xfrm>
            <a:off x="548640" y="5907024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CustomerID  </a:t>
            </a: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Unique customer identifier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5806440" y="5907024"/>
            <a:ext cx="512064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lang="en-US" sz="13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Country  </a:t>
            </a: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Customer's country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 txBox="1"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38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385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6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Data Cleaning &amp; Preparation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6"/>
          <p:cNvSpPr/>
          <p:nvPr/>
        </p:nvSpPr>
        <p:spPr>
          <a:xfrm>
            <a:off x="548640" y="1417320"/>
            <a:ext cx="502920" cy="502920"/>
          </a:xfrm>
          <a:prstGeom prst="ellipse">
            <a:avLst/>
          </a:prstGeom>
          <a:solidFill>
            <a:srgbClr val="C972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 txBox="1"/>
          <p:nvPr/>
        </p:nvSpPr>
        <p:spPr>
          <a:xfrm>
            <a:off x="548640" y="141732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0"/>
              <a:buFont typeface="Calibri"/>
              <a:buNone/>
            </a:pPr>
            <a:r>
              <a:rPr lang="en-US" sz="143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4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6"/>
          <p:cNvSpPr txBox="1"/>
          <p:nvPr/>
        </p:nvSpPr>
        <p:spPr>
          <a:xfrm>
            <a:off x="1234440" y="1344168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50"/>
              <a:buFont typeface="Calibri"/>
              <a:buNone/>
            </a:pPr>
            <a:r>
              <a:rPr lang="en-US" sz="155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Missing CustomerID removed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6"/>
          <p:cNvSpPr txBox="1"/>
          <p:nvPr/>
        </p:nvSpPr>
        <p:spPr>
          <a:xfrm>
            <a:off x="1234440" y="1709928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24.93% of rows (135,080) had no CustomerID and couldn't be attributed to a customer for RFM — excluded.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6"/>
          <p:cNvSpPr/>
          <p:nvPr/>
        </p:nvSpPr>
        <p:spPr>
          <a:xfrm>
            <a:off x="548640" y="2468880"/>
            <a:ext cx="502920" cy="502920"/>
          </a:xfrm>
          <a:prstGeom prst="ellipse">
            <a:avLst/>
          </a:prstGeom>
          <a:solidFill>
            <a:srgbClr val="8A8F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6"/>
          <p:cNvSpPr txBox="1"/>
          <p:nvPr/>
        </p:nvSpPr>
        <p:spPr>
          <a:xfrm>
            <a:off x="548640" y="246888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0"/>
              <a:buFont typeface="Calibri"/>
              <a:buNone/>
            </a:pPr>
            <a:r>
              <a:rPr lang="en-US" sz="143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4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6"/>
          <p:cNvSpPr txBox="1"/>
          <p:nvPr/>
        </p:nvSpPr>
        <p:spPr>
          <a:xfrm>
            <a:off x="1234440" y="2395728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50"/>
              <a:buFont typeface="Calibri"/>
              <a:buNone/>
            </a:pPr>
            <a:r>
              <a:rPr lang="en-US" sz="155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Non-customer adjustment rows removed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6"/>
          <p:cNvSpPr txBox="1"/>
          <p:nvPr/>
        </p:nvSpPr>
        <p:spPr>
          <a:xfrm>
            <a:off x="1234440" y="2761488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1,336 rows were internal stock adjustments — no description, £0 price, no customer — confirmed distinct from real returns.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6"/>
          <p:cNvSpPr/>
          <p:nvPr/>
        </p:nvSpPr>
        <p:spPr>
          <a:xfrm>
            <a:off x="548640" y="3520440"/>
            <a:ext cx="502920" cy="502920"/>
          </a:xfrm>
          <a:prstGeom prst="ellipse">
            <a:avLst/>
          </a:prstGeom>
          <a:solidFill>
            <a:srgbClr val="4E8B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6"/>
          <p:cNvSpPr txBox="1"/>
          <p:nvPr/>
        </p:nvSpPr>
        <p:spPr>
          <a:xfrm>
            <a:off x="548640" y="352044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0"/>
              <a:buFont typeface="Calibri"/>
              <a:buNone/>
            </a:pPr>
            <a:r>
              <a:rPr lang="en-US" sz="143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4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1234440" y="3447288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50"/>
              <a:buFont typeface="Calibri"/>
              <a:buNone/>
            </a:pPr>
            <a:r>
              <a:rPr lang="en-US" sz="155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Genuine cancellations retained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6"/>
          <p:cNvSpPr txBox="1"/>
          <p:nvPr/>
        </p:nvSpPr>
        <p:spPr>
          <a:xfrm>
            <a:off x="1234440" y="3813048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~9,288 “C”-prefixed cancellation invoices were kept so Monetary reflects true net customer spend, not gross sales.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6"/>
          <p:cNvSpPr/>
          <p:nvPr/>
        </p:nvSpPr>
        <p:spPr>
          <a:xfrm>
            <a:off x="548640" y="457200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/>
          <p:cNvSpPr txBox="1"/>
          <p:nvPr/>
        </p:nvSpPr>
        <p:spPr>
          <a:xfrm>
            <a:off x="548640" y="4572000"/>
            <a:ext cx="50292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30"/>
              <a:buFont typeface="Calibri"/>
              <a:buNone/>
            </a:pPr>
            <a:r>
              <a:rPr lang="en-US" sz="143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43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6"/>
          <p:cNvSpPr txBox="1"/>
          <p:nvPr/>
        </p:nvSpPr>
        <p:spPr>
          <a:xfrm>
            <a:off x="1234440" y="4498848"/>
            <a:ext cx="9601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550"/>
              <a:buFont typeface="Calibri"/>
              <a:buNone/>
            </a:pPr>
            <a:r>
              <a:rPr lang="en-US" sz="155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Data types corrected</a:t>
            </a:r>
            <a:endParaRPr sz="15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6"/>
          <p:cNvSpPr txBox="1"/>
          <p:nvPr/>
        </p:nvSpPr>
        <p:spPr>
          <a:xfrm>
            <a:off x="1234440" y="4864608"/>
            <a:ext cx="1024128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Quantity and InvoiceDate were stored as text with two mixed date formats — standardized and converted to proper number / date types.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6"/>
          <p:cNvSpPr/>
          <p:nvPr/>
        </p:nvSpPr>
        <p:spPr>
          <a:xfrm>
            <a:off x="548640" y="5623560"/>
            <a:ext cx="10881360" cy="6858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6"/>
          <p:cNvSpPr txBox="1"/>
          <p:nvPr/>
        </p:nvSpPr>
        <p:spPr>
          <a:xfrm>
            <a:off x="822960" y="5623560"/>
            <a:ext cx="1033272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400"/>
              <a:buFont typeface="Calibri"/>
              <a:buNone/>
            </a:pPr>
            <a:r>
              <a:rPr lang="en-US" sz="140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Result:  </a:t>
            </a:r>
            <a:r>
              <a:rPr lang="en-US" sz="14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raw_data (541,909 rows)  →  cleaned_data (406,829 rows), fully typed and ready for analysis.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6"/>
          <p:cNvSpPr txBox="1"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38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385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7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Exploratory Data Analysis — Revenue Trend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325880"/>
            <a:ext cx="6949440" cy="429768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7"/>
          <p:cNvSpPr/>
          <p:nvPr/>
        </p:nvSpPr>
        <p:spPr>
          <a:xfrm>
            <a:off x="7772400" y="1325880"/>
            <a:ext cx="3886200" cy="201168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7"/>
          <p:cNvSpPr txBox="1"/>
          <p:nvPr/>
        </p:nvSpPr>
        <p:spPr>
          <a:xfrm>
            <a:off x="8046720" y="150876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722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C9722B"/>
                </a:solidFill>
                <a:latin typeface="Calibri"/>
                <a:ea typeface="Calibri"/>
                <a:cs typeface="Calibri"/>
                <a:sym typeface="Calibri"/>
              </a:rPr>
              <a:t>SEASONAL PEAK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7"/>
          <p:cNvSpPr txBox="1"/>
          <p:nvPr/>
        </p:nvSpPr>
        <p:spPr>
          <a:xfrm>
            <a:off x="8046720" y="1828800"/>
            <a:ext cx="3383280" cy="137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Sep–Nov 2011 show the strongest revenue — consistent with pre-holiday shopping buildup.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7"/>
          <p:cNvSpPr/>
          <p:nvPr/>
        </p:nvSpPr>
        <p:spPr>
          <a:xfrm>
            <a:off x="7772400" y="3520440"/>
            <a:ext cx="3886200" cy="210312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7"/>
          <p:cNvSpPr txBox="1"/>
          <p:nvPr/>
        </p:nvSpPr>
        <p:spPr>
          <a:xfrm>
            <a:off x="8046720" y="370332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722B"/>
              </a:buClr>
              <a:buSzPts val="1100"/>
              <a:buFont typeface="Calibri"/>
              <a:buNone/>
            </a:pPr>
            <a:r>
              <a:rPr lang="en-US" sz="1100" b="1">
                <a:solidFill>
                  <a:srgbClr val="C9722B"/>
                </a:solidFill>
                <a:latin typeface="Calibri"/>
                <a:ea typeface="Calibri"/>
                <a:cs typeface="Calibri"/>
                <a:sym typeface="Calibri"/>
              </a:rPr>
              <a:t>DATA CAVEAT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7"/>
          <p:cNvSpPr txBox="1"/>
          <p:nvPr/>
        </p:nvSpPr>
        <p:spPr>
          <a:xfrm>
            <a:off x="8046720" y="4023360"/>
            <a:ext cx="338328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Dec 2011's low total is not a real decline — the dataset only covers the first 9 days of that month.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38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385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Business Snapshot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8"/>
          <p:cNvSpPr/>
          <p:nvPr/>
        </p:nvSpPr>
        <p:spPr>
          <a:xfrm>
            <a:off x="548640" y="1417320"/>
            <a:ext cx="2542032" cy="1828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8"/>
          <p:cNvSpPr txBox="1"/>
          <p:nvPr/>
        </p:nvSpPr>
        <p:spPr>
          <a:xfrm>
            <a:off x="548640" y="1691640"/>
            <a:ext cx="254203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4,372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8"/>
          <p:cNvSpPr txBox="1"/>
          <p:nvPr/>
        </p:nvSpPr>
        <p:spPr>
          <a:xfrm>
            <a:off x="685800" y="2468880"/>
            <a:ext cx="226771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unique customers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8"/>
          <p:cNvSpPr/>
          <p:nvPr/>
        </p:nvSpPr>
        <p:spPr>
          <a:xfrm>
            <a:off x="3291840" y="1417320"/>
            <a:ext cx="2542032" cy="1828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8"/>
          <p:cNvSpPr txBox="1"/>
          <p:nvPr/>
        </p:nvSpPr>
        <p:spPr>
          <a:xfrm>
            <a:off x="3291840" y="1691640"/>
            <a:ext cx="254203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67%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8"/>
          <p:cNvSpPr txBox="1"/>
          <p:nvPr/>
        </p:nvSpPr>
        <p:spPr>
          <a:xfrm>
            <a:off x="3429000" y="2468880"/>
            <a:ext cx="226771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active in last 90 days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8"/>
          <p:cNvSpPr/>
          <p:nvPr/>
        </p:nvSpPr>
        <p:spPr>
          <a:xfrm>
            <a:off x="6035040" y="1417320"/>
            <a:ext cx="2542032" cy="1828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8"/>
          <p:cNvSpPr txBox="1"/>
          <p:nvPr/>
        </p:nvSpPr>
        <p:spPr>
          <a:xfrm>
            <a:off x="6035040" y="1691640"/>
            <a:ext cx="254203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£374.05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8"/>
          <p:cNvSpPr txBox="1"/>
          <p:nvPr/>
        </p:nvSpPr>
        <p:spPr>
          <a:xfrm>
            <a:off x="6172200" y="2468880"/>
            <a:ext cx="226771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average order value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8"/>
          <p:cNvSpPr/>
          <p:nvPr/>
        </p:nvSpPr>
        <p:spPr>
          <a:xfrm>
            <a:off x="8778240" y="1417320"/>
            <a:ext cx="2542032" cy="1828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8"/>
          <p:cNvSpPr txBox="1"/>
          <p:nvPr/>
        </p:nvSpPr>
        <p:spPr>
          <a:xfrm>
            <a:off x="8778240" y="1691640"/>
            <a:ext cx="2542032" cy="7772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700"/>
              <a:buFont typeface="Cambria"/>
              <a:buNone/>
            </a:pPr>
            <a:r>
              <a:rPr lang="en-US" sz="27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22,190</a:t>
            </a:r>
            <a:endParaRPr sz="2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8"/>
          <p:cNvSpPr txBox="1"/>
          <p:nvPr/>
        </p:nvSpPr>
        <p:spPr>
          <a:xfrm>
            <a:off x="8915400" y="2468880"/>
            <a:ext cx="226771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total transactions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1" name="Google Shape;121;p8"/>
          <p:cNvSpPr txBox="1"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722B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C9722B"/>
                </a:solidFill>
                <a:latin typeface="Calibri"/>
                <a:ea typeface="Calibri"/>
                <a:cs typeface="Calibri"/>
                <a:sym typeface="Calibri"/>
              </a:rPr>
              <a:t>TOP REVENUE COUNTRIES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22" name="Google Shape;122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4023360"/>
            <a:ext cx="10881360" cy="237744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8"/>
          <p:cNvSpPr txBox="1"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38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385"/>
                </a:solidFill>
                <a:latin typeface="Calibri"/>
                <a:ea typeface="Calibri"/>
                <a:cs typeface="Calibri"/>
                <a:sym typeface="Calibri"/>
              </a:rPr>
              <a:t>6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9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RFM Methodology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9"/>
          <p:cNvSpPr txBox="1"/>
          <p:nvPr/>
        </p:nvSpPr>
        <p:spPr>
          <a:xfrm>
            <a:off x="548640" y="118872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Every customer is scored on three dimensions of buying behaviour, each ranked 1 (weakest) to 5 (strongest) using NTILE(5) in SQL.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9"/>
          <p:cNvSpPr/>
          <p:nvPr/>
        </p:nvSpPr>
        <p:spPr>
          <a:xfrm>
            <a:off x="548640" y="1965960"/>
            <a:ext cx="3429000" cy="3657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9"/>
          <p:cNvSpPr/>
          <p:nvPr/>
        </p:nvSpPr>
        <p:spPr>
          <a:xfrm>
            <a:off x="822960" y="2240280"/>
            <a:ext cx="685800" cy="6858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9"/>
          <p:cNvSpPr txBox="1"/>
          <p:nvPr/>
        </p:nvSpPr>
        <p:spPr>
          <a:xfrm>
            <a:off x="822960" y="224028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alibri"/>
              <a:buNone/>
            </a:pPr>
            <a:r>
              <a:rPr lang="en-US" sz="19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9"/>
          <p:cNvSpPr txBox="1"/>
          <p:nvPr/>
        </p:nvSpPr>
        <p:spPr>
          <a:xfrm>
            <a:off x="822960" y="30632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mbria"/>
              <a:buNone/>
            </a:pPr>
            <a:r>
              <a:rPr lang="en-US" sz="18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Recency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9"/>
          <p:cNvSpPr txBox="1"/>
          <p:nvPr/>
        </p:nvSpPr>
        <p:spPr>
          <a:xfrm>
            <a:off x="822960" y="3474720"/>
            <a:ext cx="29260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Days since the customer's last purchase, measured against the dataset's most recent transaction date.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9"/>
          <p:cNvSpPr txBox="1"/>
          <p:nvPr/>
        </p:nvSpPr>
        <p:spPr>
          <a:xfrm>
            <a:off x="822960" y="51206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00"/>
              <a:buFont typeface="Calibri"/>
              <a:buNone/>
            </a:pPr>
            <a:r>
              <a:rPr lang="en-US" sz="1200" b="1" i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Fewer days → higher score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9"/>
          <p:cNvSpPr/>
          <p:nvPr/>
        </p:nvSpPr>
        <p:spPr>
          <a:xfrm>
            <a:off x="4206240" y="1965960"/>
            <a:ext cx="3429000" cy="3657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9"/>
          <p:cNvSpPr/>
          <p:nvPr/>
        </p:nvSpPr>
        <p:spPr>
          <a:xfrm>
            <a:off x="4480560" y="2240280"/>
            <a:ext cx="685800" cy="685800"/>
          </a:xfrm>
          <a:prstGeom prst="ellipse">
            <a:avLst/>
          </a:prstGeom>
          <a:solidFill>
            <a:srgbClr val="4E8B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9"/>
          <p:cNvSpPr txBox="1"/>
          <p:nvPr/>
        </p:nvSpPr>
        <p:spPr>
          <a:xfrm>
            <a:off x="4480560" y="224028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alibri"/>
              <a:buNone/>
            </a:pPr>
            <a:r>
              <a:rPr lang="en-US" sz="19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9"/>
          <p:cNvSpPr txBox="1"/>
          <p:nvPr/>
        </p:nvSpPr>
        <p:spPr>
          <a:xfrm>
            <a:off x="4480560" y="30632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mbria"/>
              <a:buNone/>
            </a:pPr>
            <a:r>
              <a:rPr lang="en-US" sz="18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Frequency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9"/>
          <p:cNvSpPr txBox="1"/>
          <p:nvPr/>
        </p:nvSpPr>
        <p:spPr>
          <a:xfrm>
            <a:off x="4480560" y="3474720"/>
            <a:ext cx="29260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Number of distinct invoices (orders) placed by the customer across the full timeframe.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9"/>
          <p:cNvSpPr txBox="1"/>
          <p:nvPr/>
        </p:nvSpPr>
        <p:spPr>
          <a:xfrm>
            <a:off x="4480560" y="51206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4E8B7C"/>
              </a:buClr>
              <a:buSzPts val="1200"/>
              <a:buFont typeface="Calibri"/>
              <a:buNone/>
            </a:pPr>
            <a:r>
              <a:rPr lang="en-US" sz="1200" b="1" i="1">
                <a:solidFill>
                  <a:srgbClr val="4E8B7C"/>
                </a:solidFill>
                <a:latin typeface="Calibri"/>
                <a:ea typeface="Calibri"/>
                <a:cs typeface="Calibri"/>
                <a:sym typeface="Calibri"/>
              </a:rPr>
              <a:t>More orders → higher score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9"/>
          <p:cNvSpPr/>
          <p:nvPr/>
        </p:nvSpPr>
        <p:spPr>
          <a:xfrm>
            <a:off x="7863840" y="1965960"/>
            <a:ext cx="3429000" cy="36576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9"/>
          <p:cNvSpPr/>
          <p:nvPr/>
        </p:nvSpPr>
        <p:spPr>
          <a:xfrm>
            <a:off x="8138160" y="2240280"/>
            <a:ext cx="685800" cy="685800"/>
          </a:xfrm>
          <a:prstGeom prst="ellipse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9"/>
          <p:cNvSpPr txBox="1"/>
          <p:nvPr/>
        </p:nvSpPr>
        <p:spPr>
          <a:xfrm>
            <a:off x="8138160" y="2240280"/>
            <a:ext cx="6858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50"/>
              <a:buFont typeface="Calibri"/>
              <a:buNone/>
            </a:pPr>
            <a:r>
              <a:rPr lang="en-US" sz="19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</a:t>
            </a:r>
            <a:endParaRPr sz="1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8138160" y="30632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Cambria"/>
              <a:buNone/>
            </a:pPr>
            <a:r>
              <a:rPr lang="en-US" sz="18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Monetary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9"/>
          <p:cNvSpPr txBox="1"/>
          <p:nvPr/>
        </p:nvSpPr>
        <p:spPr>
          <a:xfrm>
            <a:off x="8138160" y="3474720"/>
            <a:ext cx="2926080" cy="1554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Total net spend per customer (Quantity × UnitPrice), including cancellations, across all orders.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9"/>
          <p:cNvSpPr txBox="1"/>
          <p:nvPr/>
        </p:nvSpPr>
        <p:spPr>
          <a:xfrm>
            <a:off x="8138160" y="5120640"/>
            <a:ext cx="292608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 i="1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Higher spend → higher score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9"/>
          <p:cNvSpPr txBox="1"/>
          <p:nvPr/>
        </p:nvSpPr>
        <p:spPr>
          <a:xfrm>
            <a:off x="548640" y="5806440"/>
            <a:ext cx="10881360" cy="5486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Combined RFM Code:  </a:t>
            </a:r>
            <a:r>
              <a:rPr lang="en-US" sz="13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R, F and M scores are concatenated (e.g. “555” = top-tier on all three) to classify each customer into a named segment.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9"/>
          <p:cNvSpPr txBox="1"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38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385"/>
                </a:solidFill>
                <a:latin typeface="Calibri"/>
                <a:ea typeface="Calibri"/>
                <a:cs typeface="Calibri"/>
                <a:sym typeface="Calibri"/>
              </a:rPr>
              <a:t>7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RFM Customer Segments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7" name="Google Shape;157;p1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280160"/>
            <a:ext cx="5943600" cy="374904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0"/>
          <p:cNvSpPr/>
          <p:nvPr/>
        </p:nvSpPr>
        <p:spPr>
          <a:xfrm>
            <a:off x="6766560" y="1325880"/>
            <a:ext cx="128016" cy="685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0"/>
          <p:cNvSpPr txBox="1"/>
          <p:nvPr/>
        </p:nvSpPr>
        <p:spPr>
          <a:xfrm>
            <a:off x="6995160" y="1280160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Loyal  </a:t>
            </a:r>
            <a:r>
              <a:rPr lang="en-US" sz="1150">
                <a:solidFill>
                  <a:srgbClr val="6B7385"/>
                </a:solidFill>
                <a:latin typeface="Calibri"/>
                <a:ea typeface="Calibri"/>
                <a:cs typeface="Calibri"/>
                <a:sym typeface="Calibri"/>
              </a:rPr>
              <a:t>(961)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0"/>
          <p:cNvSpPr txBox="1"/>
          <p:nvPr/>
        </p:nvSpPr>
        <p:spPr>
          <a:xfrm>
            <a:off x="6995160" y="1545336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High R, F &amp; M — your best, most consistent customers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0"/>
          <p:cNvSpPr/>
          <p:nvPr/>
        </p:nvSpPr>
        <p:spPr>
          <a:xfrm>
            <a:off x="6766560" y="2130552"/>
            <a:ext cx="128016" cy="685800"/>
          </a:xfrm>
          <a:prstGeom prst="rect">
            <a:avLst/>
          </a:prstGeom>
          <a:solidFill>
            <a:srgbClr val="C972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0"/>
          <p:cNvSpPr txBox="1"/>
          <p:nvPr/>
        </p:nvSpPr>
        <p:spPr>
          <a:xfrm>
            <a:off x="6995160" y="2084832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At-Risk  </a:t>
            </a:r>
            <a:r>
              <a:rPr lang="en-US" sz="1150">
                <a:solidFill>
                  <a:srgbClr val="6B7385"/>
                </a:solidFill>
                <a:latin typeface="Calibri"/>
                <a:ea typeface="Calibri"/>
                <a:cs typeface="Calibri"/>
                <a:sym typeface="Calibri"/>
              </a:rPr>
              <a:t>(2,561)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0"/>
          <p:cNvSpPr txBox="1"/>
          <p:nvPr/>
        </p:nvSpPr>
        <p:spPr>
          <a:xfrm>
            <a:off x="6995160" y="2350008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Largest group; moderate/mixed scores, needs closer monitoring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0"/>
          <p:cNvSpPr/>
          <p:nvPr/>
        </p:nvSpPr>
        <p:spPr>
          <a:xfrm>
            <a:off x="6766560" y="2935224"/>
            <a:ext cx="128016" cy="685800"/>
          </a:xfrm>
          <a:prstGeom prst="rect">
            <a:avLst/>
          </a:prstGeom>
          <a:solidFill>
            <a:srgbClr val="8A8F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0"/>
          <p:cNvSpPr txBox="1"/>
          <p:nvPr/>
        </p:nvSpPr>
        <p:spPr>
          <a:xfrm>
            <a:off x="6995160" y="2889504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Dormant  </a:t>
            </a:r>
            <a:r>
              <a:rPr lang="en-US" sz="1150">
                <a:solidFill>
                  <a:srgbClr val="6B7385"/>
                </a:solidFill>
                <a:latin typeface="Calibri"/>
                <a:ea typeface="Calibri"/>
                <a:cs typeface="Calibri"/>
                <a:sym typeface="Calibri"/>
              </a:rPr>
              <a:t>(813)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0"/>
          <p:cNvSpPr txBox="1"/>
          <p:nvPr/>
        </p:nvSpPr>
        <p:spPr>
          <a:xfrm>
            <a:off x="6995160" y="3154680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Low across R, F &amp; M — stopped buying, at risk of churn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0"/>
          <p:cNvSpPr/>
          <p:nvPr/>
        </p:nvSpPr>
        <p:spPr>
          <a:xfrm>
            <a:off x="6766560" y="3739896"/>
            <a:ext cx="128016" cy="685800"/>
          </a:xfrm>
          <a:prstGeom prst="rect">
            <a:avLst/>
          </a:prstGeom>
          <a:solidFill>
            <a:srgbClr val="4E8B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0"/>
          <p:cNvSpPr txBox="1"/>
          <p:nvPr/>
        </p:nvSpPr>
        <p:spPr>
          <a:xfrm>
            <a:off x="6995160" y="3694176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New Customer  </a:t>
            </a:r>
            <a:r>
              <a:rPr lang="en-US" sz="1150">
                <a:solidFill>
                  <a:srgbClr val="6B7385"/>
                </a:solidFill>
                <a:latin typeface="Calibri"/>
                <a:ea typeface="Calibri"/>
                <a:cs typeface="Calibri"/>
                <a:sym typeface="Calibri"/>
              </a:rPr>
              <a:t>(36)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0"/>
          <p:cNvSpPr txBox="1"/>
          <p:nvPr/>
        </p:nvSpPr>
        <p:spPr>
          <a:xfrm>
            <a:off x="6995160" y="3959352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Recent, single purchase — too early to judge long-term value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0"/>
          <p:cNvSpPr/>
          <p:nvPr/>
        </p:nvSpPr>
        <p:spPr>
          <a:xfrm>
            <a:off x="6766560" y="4544568"/>
            <a:ext cx="128016" cy="68580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0"/>
          <p:cNvSpPr txBox="1"/>
          <p:nvPr/>
        </p:nvSpPr>
        <p:spPr>
          <a:xfrm>
            <a:off x="6995160" y="4498848"/>
            <a:ext cx="457200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Big Spender  </a:t>
            </a:r>
            <a:r>
              <a:rPr lang="en-US" sz="1150">
                <a:solidFill>
                  <a:srgbClr val="6B7385"/>
                </a:solidFill>
                <a:latin typeface="Calibri"/>
                <a:ea typeface="Calibri"/>
                <a:cs typeface="Calibri"/>
                <a:sym typeface="Calibri"/>
              </a:rPr>
              <a:t>(1)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0"/>
          <p:cNvSpPr txBox="1"/>
          <p:nvPr/>
        </p:nvSpPr>
        <p:spPr>
          <a:xfrm>
            <a:off x="6995160" y="4764024"/>
            <a:ext cx="4572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Recent, one high-value order, not yet a repeat buyer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0"/>
          <p:cNvSpPr txBox="1"/>
          <p:nvPr/>
        </p:nvSpPr>
        <p:spPr>
          <a:xfrm>
            <a:off x="548640" y="5989320"/>
            <a:ext cx="10881360" cy="4114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385"/>
              </a:buClr>
              <a:buSzPts val="1200"/>
              <a:buFont typeface="Calibri"/>
              <a:buNone/>
            </a:pPr>
            <a:r>
              <a:rPr lang="en-US" sz="1200" i="1">
                <a:solidFill>
                  <a:srgbClr val="6B7385"/>
                </a:solidFill>
                <a:latin typeface="Calibri"/>
                <a:ea typeface="Calibri"/>
                <a:cs typeface="Calibri"/>
                <a:sym typeface="Calibri"/>
              </a:rPr>
              <a:t>4,372 customers total — segmented from raw RFM scores (R≥4 &amp; F≥4 &amp; M≥4 = Loyal, etc.), not just the exact code.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10"/>
          <p:cNvSpPr txBox="1"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38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385"/>
                </a:solidFill>
                <a:latin typeface="Calibri"/>
                <a:ea typeface="Calibri"/>
                <a:cs typeface="Calibri"/>
                <a:sym typeface="Calibri"/>
              </a:rPr>
              <a:t>8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Decile Analysis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1"/>
          <p:cNvSpPr txBox="1"/>
          <p:nvPr/>
        </p:nvSpPr>
        <p:spPr>
          <a:xfrm>
            <a:off x="548640" y="1188720"/>
            <a:ext cx="1060704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450"/>
              <a:buFont typeface="Calibri"/>
              <a:buNone/>
            </a:pPr>
            <a:r>
              <a:rPr lang="en-US" sz="14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Independent of RFM segments, every customer is also ranked purely by total spend and split into 10 equal-sized groups.</a:t>
            </a:r>
            <a:endParaRPr sz="14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82" name="Google Shape;182;p1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48640" y="1828800"/>
            <a:ext cx="6858000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83" name="Google Shape;183;p11"/>
          <p:cNvSpPr txBox="1"/>
          <p:nvPr/>
        </p:nvSpPr>
        <p:spPr>
          <a:xfrm>
            <a:off x="548640" y="5806440"/>
            <a:ext cx="68580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6B7385"/>
              </a:buClr>
              <a:buSzPts val="1050"/>
              <a:buFont typeface="Calibri"/>
              <a:buNone/>
            </a:pPr>
            <a:r>
              <a:rPr lang="en-US" sz="1050" i="1">
                <a:solidFill>
                  <a:srgbClr val="6B7385"/>
                </a:solidFill>
                <a:latin typeface="Calibri"/>
                <a:ea typeface="Calibri"/>
                <a:cs typeface="Calibri"/>
                <a:sym typeface="Calibri"/>
              </a:rPr>
              <a:t>Revenue share by decile, from rfm_final_v2 (Power BI). Figures are approximate, rounded from dashboard chart labels.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1"/>
          <p:cNvSpPr/>
          <p:nvPr/>
        </p:nvSpPr>
        <p:spPr>
          <a:xfrm>
            <a:off x="7680960" y="1828800"/>
            <a:ext cx="3977640" cy="18288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1"/>
          <p:cNvSpPr txBox="1"/>
          <p:nvPr/>
        </p:nvSpPr>
        <p:spPr>
          <a:xfrm>
            <a:off x="7909560" y="201168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Decile 1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1"/>
          <p:cNvSpPr txBox="1"/>
          <p:nvPr/>
        </p:nvSpPr>
        <p:spPr>
          <a:xfrm>
            <a:off x="7909560" y="2331720"/>
            <a:ext cx="35661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Top 10% of customers by revenue — highest priority for retention and loyalty investment.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1"/>
          <p:cNvSpPr/>
          <p:nvPr/>
        </p:nvSpPr>
        <p:spPr>
          <a:xfrm>
            <a:off x="7680960" y="3840480"/>
            <a:ext cx="3977640" cy="182880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1"/>
          <p:cNvSpPr txBox="1"/>
          <p:nvPr/>
        </p:nvSpPr>
        <p:spPr>
          <a:xfrm>
            <a:off x="7909560" y="4023360"/>
            <a:ext cx="356616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722B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C9722B"/>
                </a:solidFill>
                <a:latin typeface="Calibri"/>
                <a:ea typeface="Calibri"/>
                <a:cs typeface="Calibri"/>
                <a:sym typeface="Calibri"/>
              </a:rPr>
              <a:t>Decile 10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1"/>
          <p:cNvSpPr txBox="1"/>
          <p:nvPr/>
        </p:nvSpPr>
        <p:spPr>
          <a:xfrm>
            <a:off x="7909560" y="4343400"/>
            <a:ext cx="3566160" cy="11887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Bottom 10% — infrequent or dormant customers, lowest priority for spend.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1"/>
          <p:cNvSpPr txBox="1"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38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385"/>
                </a:solidFill>
                <a:latin typeface="Calibri"/>
                <a:ea typeface="Calibri"/>
                <a:cs typeface="Calibri"/>
                <a:sym typeface="Calibri"/>
              </a:rPr>
              <a:t>9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2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Recommendations by Segment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2"/>
          <p:cNvSpPr/>
          <p:nvPr/>
        </p:nvSpPr>
        <p:spPr>
          <a:xfrm>
            <a:off x="548640" y="1325880"/>
            <a:ext cx="173736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2"/>
          <p:cNvSpPr txBox="1"/>
          <p:nvPr/>
        </p:nvSpPr>
        <p:spPr>
          <a:xfrm>
            <a:off x="548640" y="14630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Loyal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2"/>
          <p:cNvSpPr txBox="1"/>
          <p:nvPr/>
        </p:nvSpPr>
        <p:spPr>
          <a:xfrm>
            <a:off x="548640" y="181051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RETENTION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2"/>
          <p:cNvSpPr txBox="1"/>
          <p:nvPr/>
        </p:nvSpPr>
        <p:spPr>
          <a:xfrm>
            <a:off x="2514600" y="1325880"/>
            <a:ext cx="9052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Early access to seasonal deals — e.g. festive promotions released one month before public launch.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2"/>
          <p:cNvSpPr/>
          <p:nvPr/>
        </p:nvSpPr>
        <p:spPr>
          <a:xfrm>
            <a:off x="548640" y="2286000"/>
            <a:ext cx="1737360" cy="822960"/>
          </a:xfrm>
          <a:prstGeom prst="rect">
            <a:avLst/>
          </a:prstGeom>
          <a:solidFill>
            <a:srgbClr val="8A8F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2"/>
          <p:cNvSpPr txBox="1"/>
          <p:nvPr/>
        </p:nvSpPr>
        <p:spPr>
          <a:xfrm>
            <a:off x="548640" y="24231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Dormant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2"/>
          <p:cNvSpPr txBox="1"/>
          <p:nvPr/>
        </p:nvSpPr>
        <p:spPr>
          <a:xfrm>
            <a:off x="548640" y="277063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RE-ENGAGEMENT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2"/>
          <p:cNvSpPr txBox="1"/>
          <p:nvPr/>
        </p:nvSpPr>
        <p:spPr>
          <a:xfrm>
            <a:off x="2514600" y="2286000"/>
            <a:ext cx="9052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Threshold spend offers (“spend £X, get a hamper”) plus discounts on previously purchased product categories.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2"/>
          <p:cNvSpPr/>
          <p:nvPr/>
        </p:nvSpPr>
        <p:spPr>
          <a:xfrm>
            <a:off x="548640" y="3246120"/>
            <a:ext cx="1737360" cy="822960"/>
          </a:xfrm>
          <a:prstGeom prst="rect">
            <a:avLst/>
          </a:prstGeom>
          <a:solidFill>
            <a:srgbClr val="C972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2"/>
          <p:cNvSpPr txBox="1"/>
          <p:nvPr/>
        </p:nvSpPr>
        <p:spPr>
          <a:xfrm>
            <a:off x="548640" y="33832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At-Risk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2"/>
          <p:cNvSpPr txBox="1"/>
          <p:nvPr/>
        </p:nvSpPr>
        <p:spPr>
          <a:xfrm>
            <a:off x="548640" y="373075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MONITOR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2"/>
          <p:cNvSpPr txBox="1"/>
          <p:nvPr/>
        </p:nvSpPr>
        <p:spPr>
          <a:xfrm>
            <a:off x="2514600" y="3246120"/>
            <a:ext cx="9052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Broad, moderate “come back” discount now; flag for finer RFM sub-segmentation in future analysis.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2"/>
          <p:cNvSpPr/>
          <p:nvPr/>
        </p:nvSpPr>
        <p:spPr>
          <a:xfrm>
            <a:off x="548640" y="4206240"/>
            <a:ext cx="1737360" cy="822960"/>
          </a:xfrm>
          <a:prstGeom prst="rect">
            <a:avLst/>
          </a:prstGeom>
          <a:solidFill>
            <a:srgbClr val="4E8B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2"/>
          <p:cNvSpPr txBox="1"/>
          <p:nvPr/>
        </p:nvSpPr>
        <p:spPr>
          <a:xfrm>
            <a:off x="548640" y="43434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Customer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2"/>
          <p:cNvSpPr txBox="1"/>
          <p:nvPr/>
        </p:nvSpPr>
        <p:spPr>
          <a:xfrm>
            <a:off x="548640" y="469087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NURTURE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2"/>
          <p:cNvSpPr txBox="1"/>
          <p:nvPr/>
        </p:nvSpPr>
        <p:spPr>
          <a:xfrm>
            <a:off x="2514600" y="4206240"/>
            <a:ext cx="9052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Time-limited incentive on their second order to convert a first-time buyer into a repeat customer.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2"/>
          <p:cNvSpPr/>
          <p:nvPr/>
        </p:nvSpPr>
        <p:spPr>
          <a:xfrm>
            <a:off x="548640" y="5166360"/>
            <a:ext cx="173736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2"/>
          <p:cNvSpPr txBox="1"/>
          <p:nvPr/>
        </p:nvSpPr>
        <p:spPr>
          <a:xfrm>
            <a:off x="548640" y="530352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Big Spender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2"/>
          <p:cNvSpPr txBox="1"/>
          <p:nvPr/>
        </p:nvSpPr>
        <p:spPr>
          <a:xfrm>
            <a:off x="548640" y="565099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UPSELLING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2"/>
          <p:cNvSpPr txBox="1"/>
          <p:nvPr/>
        </p:nvSpPr>
        <p:spPr>
          <a:xfrm>
            <a:off x="2514600" y="5166360"/>
            <a:ext cx="9052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Feedback outreach plus a second-purchase incentive while their first experience is still fresh.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2"/>
          <p:cNvSpPr txBox="1"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38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385"/>
                </a:solidFill>
                <a:latin typeface="Calibri"/>
                <a:ea typeface="Calibri"/>
                <a:cs typeface="Calibri"/>
                <a:sym typeface="Calibri"/>
              </a:rPr>
              <a:t>10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13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Marketing Budget Allocation Framework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3"/>
          <p:cNvSpPr/>
          <p:nvPr/>
        </p:nvSpPr>
        <p:spPr>
          <a:xfrm>
            <a:off x="548640" y="1325880"/>
            <a:ext cx="1737360" cy="8229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3"/>
          <p:cNvSpPr txBox="1"/>
          <p:nvPr/>
        </p:nvSpPr>
        <p:spPr>
          <a:xfrm>
            <a:off x="548640" y="146304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Loyal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13"/>
          <p:cNvSpPr txBox="1"/>
          <p:nvPr/>
        </p:nvSpPr>
        <p:spPr>
          <a:xfrm>
            <a:off x="548640" y="181051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40% OF BUDGET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13"/>
          <p:cNvSpPr txBox="1"/>
          <p:nvPr/>
        </p:nvSpPr>
        <p:spPr>
          <a:xfrm>
            <a:off x="2514600" y="1325880"/>
            <a:ext cx="9052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Proven, already-engaged spenders — the most predictable return per £. Priority: protect and reward (loyalty perks, early access, referral asks).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3"/>
          <p:cNvSpPr/>
          <p:nvPr/>
        </p:nvSpPr>
        <p:spPr>
          <a:xfrm>
            <a:off x="548640" y="2286000"/>
            <a:ext cx="1737360" cy="822960"/>
          </a:xfrm>
          <a:prstGeom prst="rect">
            <a:avLst/>
          </a:prstGeom>
          <a:solidFill>
            <a:srgbClr val="C9722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3"/>
          <p:cNvSpPr txBox="1"/>
          <p:nvPr/>
        </p:nvSpPr>
        <p:spPr>
          <a:xfrm>
            <a:off x="548640" y="24231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At-Risk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13"/>
          <p:cNvSpPr txBox="1"/>
          <p:nvPr/>
        </p:nvSpPr>
        <p:spPr>
          <a:xfrm>
            <a:off x="548640" y="277063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30% OF BUDGET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3"/>
          <p:cNvSpPr txBox="1"/>
          <p:nvPr/>
        </p:nvSpPr>
        <p:spPr>
          <a:xfrm>
            <a:off x="2514600" y="2286000"/>
            <a:ext cx="9052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Largest segment (59% of customers) — even a modest per-customer spend adds up, and it protects revenue by preventing drift into Dormant.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3"/>
          <p:cNvSpPr/>
          <p:nvPr/>
        </p:nvSpPr>
        <p:spPr>
          <a:xfrm>
            <a:off x="548640" y="3246120"/>
            <a:ext cx="1737360" cy="822960"/>
          </a:xfrm>
          <a:prstGeom prst="rect">
            <a:avLst/>
          </a:prstGeom>
          <a:solidFill>
            <a:srgbClr val="8A8F9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3"/>
          <p:cNvSpPr txBox="1"/>
          <p:nvPr/>
        </p:nvSpPr>
        <p:spPr>
          <a:xfrm>
            <a:off x="548640" y="338328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Dormant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3"/>
          <p:cNvSpPr txBox="1"/>
          <p:nvPr/>
        </p:nvSpPr>
        <p:spPr>
          <a:xfrm>
            <a:off x="548640" y="373075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15% OF BUDGET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3"/>
          <p:cNvSpPr txBox="1"/>
          <p:nvPr/>
        </p:nvSpPr>
        <p:spPr>
          <a:xfrm>
            <a:off x="2514600" y="3246120"/>
            <a:ext cx="9052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Lowest ROI per £ spent — cheap, low-cost win-back only (email reminders), not heavy discounts.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3"/>
          <p:cNvSpPr/>
          <p:nvPr/>
        </p:nvSpPr>
        <p:spPr>
          <a:xfrm>
            <a:off x="548640" y="4206240"/>
            <a:ext cx="1737360" cy="822960"/>
          </a:xfrm>
          <a:prstGeom prst="rect">
            <a:avLst/>
          </a:prstGeom>
          <a:solidFill>
            <a:srgbClr val="4E8B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3"/>
          <p:cNvSpPr txBox="1"/>
          <p:nvPr/>
        </p:nvSpPr>
        <p:spPr>
          <a:xfrm>
            <a:off x="548640" y="434340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New Customer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13"/>
          <p:cNvSpPr txBox="1"/>
          <p:nvPr/>
        </p:nvSpPr>
        <p:spPr>
          <a:xfrm>
            <a:off x="548640" y="469087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10% OF BUDGET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3"/>
          <p:cNvSpPr txBox="1"/>
          <p:nvPr/>
        </p:nvSpPr>
        <p:spPr>
          <a:xfrm>
            <a:off x="2514600" y="4206240"/>
            <a:ext cx="9052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Small group, but nurturing them into Loyal customers is cheaper than acquiring brand-new ones from scratch.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3"/>
          <p:cNvSpPr/>
          <p:nvPr/>
        </p:nvSpPr>
        <p:spPr>
          <a:xfrm>
            <a:off x="548640" y="5166360"/>
            <a:ext cx="1737360" cy="822960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3"/>
          <p:cNvSpPr txBox="1"/>
          <p:nvPr/>
        </p:nvSpPr>
        <p:spPr>
          <a:xfrm>
            <a:off x="548640" y="530352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350"/>
              <a:buFont typeface="Calibri"/>
              <a:buNone/>
            </a:pPr>
            <a:r>
              <a:rPr lang="en-US" sz="135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Big Spender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3"/>
          <p:cNvSpPr txBox="1"/>
          <p:nvPr/>
        </p:nvSpPr>
        <p:spPr>
          <a:xfrm>
            <a:off x="548640" y="5650992"/>
            <a:ext cx="17373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5% OF BUDGET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3"/>
          <p:cNvSpPr txBox="1"/>
          <p:nvPr/>
        </p:nvSpPr>
        <p:spPr>
          <a:xfrm>
            <a:off x="2514600" y="5166360"/>
            <a:ext cx="9052560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Just 1 customer — minimal spend, personal outreach (a feedback call) rather than a mass campaign.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3"/>
          <p:cNvSpPr txBox="1"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38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385"/>
                </a:solidFill>
                <a:latin typeface="Calibri"/>
                <a:ea typeface="Calibri"/>
                <a:cs typeface="Calibri"/>
                <a:sym typeface="Calibri"/>
              </a:rPr>
              <a:t>11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4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Power BI Dashboard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14"/>
          <p:cNvSpPr/>
          <p:nvPr/>
        </p:nvSpPr>
        <p:spPr>
          <a:xfrm>
            <a:off x="548640" y="1280160"/>
            <a:ext cx="6949440" cy="5029200"/>
          </a:xfrm>
          <a:prstGeom prst="rect">
            <a:avLst/>
          </a:prstGeom>
          <a:solidFill>
            <a:srgbClr val="F7F9FC"/>
          </a:solidFill>
          <a:ln w="19050" cap="flat" cmpd="sng">
            <a:solidFill>
              <a:srgbClr val="CFE0F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4"/>
          <p:cNvSpPr txBox="1"/>
          <p:nvPr/>
        </p:nvSpPr>
        <p:spPr>
          <a:xfrm>
            <a:off x="7772400" y="1371600"/>
            <a:ext cx="393192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722B"/>
              </a:buClr>
              <a:buSzPts val="1150"/>
              <a:buFont typeface="Calibri"/>
              <a:buNone/>
            </a:pPr>
            <a:r>
              <a:rPr lang="en-US" sz="1150" b="1">
                <a:solidFill>
                  <a:srgbClr val="C9722B"/>
                </a:solidFill>
                <a:latin typeface="Calibri"/>
                <a:ea typeface="Calibri"/>
                <a:cs typeface="Calibri"/>
                <a:sym typeface="Calibri"/>
              </a:rPr>
              <a:t>WHAT THE DASHBOARD SHOWS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2" name="Google Shape;252;p14"/>
          <p:cNvSpPr/>
          <p:nvPr/>
        </p:nvSpPr>
        <p:spPr>
          <a:xfrm>
            <a:off x="7772400" y="1883664"/>
            <a:ext cx="82296" cy="822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4"/>
          <p:cNvSpPr txBox="1"/>
          <p:nvPr/>
        </p:nvSpPr>
        <p:spPr>
          <a:xfrm>
            <a:off x="8001000" y="182880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RFM segmentation breakdown (customer count by segment)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14"/>
          <p:cNvSpPr/>
          <p:nvPr/>
        </p:nvSpPr>
        <p:spPr>
          <a:xfrm>
            <a:off x="7772400" y="2660904"/>
            <a:ext cx="82296" cy="822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4"/>
          <p:cNvSpPr txBox="1"/>
          <p:nvPr/>
        </p:nvSpPr>
        <p:spPr>
          <a:xfrm>
            <a:off x="8001000" y="260604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Decile-wise revenue contribution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4"/>
          <p:cNvSpPr/>
          <p:nvPr/>
        </p:nvSpPr>
        <p:spPr>
          <a:xfrm>
            <a:off x="7772400" y="3438144"/>
            <a:ext cx="82296" cy="822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4"/>
          <p:cNvSpPr txBox="1"/>
          <p:nvPr/>
        </p:nvSpPr>
        <p:spPr>
          <a:xfrm>
            <a:off x="8001000" y="338328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Monthly revenue trend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14"/>
          <p:cNvSpPr/>
          <p:nvPr/>
        </p:nvSpPr>
        <p:spPr>
          <a:xfrm>
            <a:off x="7772400" y="4215384"/>
            <a:ext cx="82296" cy="82296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4"/>
          <p:cNvSpPr txBox="1"/>
          <p:nvPr/>
        </p:nvSpPr>
        <p:spPr>
          <a:xfrm>
            <a:off x="8001000" y="4160520"/>
            <a:ext cx="374904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Key measures: Total Revenue, Total Customers, Total Orders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7772400" y="4754880"/>
            <a:ext cx="3931920" cy="13716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4"/>
          <p:cNvSpPr txBox="1"/>
          <p:nvPr/>
        </p:nvSpPr>
        <p:spPr>
          <a:xfrm>
            <a:off x="7772400" y="4892040"/>
            <a:ext cx="3931920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Cambria"/>
              <a:buNone/>
            </a:pPr>
            <a:r>
              <a:rPr lang="en-US" sz="26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£8.30M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4"/>
          <p:cNvSpPr txBox="1"/>
          <p:nvPr/>
        </p:nvSpPr>
        <p:spPr>
          <a:xfrm>
            <a:off x="7909560" y="5486400"/>
            <a:ext cx="3657600" cy="502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Total net revenue (DAX measure, cleaned_data)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14"/>
          <p:cNvSpPr txBox="1"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38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385"/>
                </a:solidFill>
                <a:latin typeface="Calibri"/>
                <a:ea typeface="Calibri"/>
                <a:cs typeface="Calibri"/>
                <a:sym typeface="Calibri"/>
              </a:rPr>
              <a:t>12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5C921F5-B30F-0589-CE37-827C2D975C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1960" y="1216152"/>
            <a:ext cx="7075095" cy="5230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15"/>
          <p:cNvSpPr txBox="1"/>
          <p:nvPr/>
        </p:nvSpPr>
        <p:spPr>
          <a:xfrm>
            <a:off x="548640" y="411480"/>
            <a:ext cx="11091672" cy="6400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000"/>
              <a:buFont typeface="Cambria"/>
              <a:buNone/>
            </a:pPr>
            <a:r>
              <a:rPr lang="en-US" sz="30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Technical Blueprint &amp; Tools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15"/>
          <p:cNvSpPr/>
          <p:nvPr/>
        </p:nvSpPr>
        <p:spPr>
          <a:xfrm>
            <a:off x="548640" y="1371600"/>
            <a:ext cx="3429000" cy="19202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548640" y="1371600"/>
            <a:ext cx="3429000" cy="109728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5"/>
          <p:cNvSpPr txBox="1"/>
          <p:nvPr/>
        </p:nvSpPr>
        <p:spPr>
          <a:xfrm>
            <a:off x="777240" y="16459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SQL Server (T-SQL)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5"/>
          <p:cNvSpPr txBox="1"/>
          <p:nvPr/>
        </p:nvSpPr>
        <p:spPr>
          <a:xfrm>
            <a:off x="777240" y="2148840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Data cleaning, RFM &amp; decile calculation, exploratory analysis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5"/>
          <p:cNvSpPr/>
          <p:nvPr/>
        </p:nvSpPr>
        <p:spPr>
          <a:xfrm>
            <a:off x="4206240" y="1371600"/>
            <a:ext cx="3429000" cy="19202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4206240" y="1371600"/>
            <a:ext cx="3429000" cy="109728"/>
          </a:xfrm>
          <a:prstGeom prst="rect">
            <a:avLst/>
          </a:prstGeom>
          <a:solidFill>
            <a:srgbClr val="4E8B7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5"/>
          <p:cNvSpPr txBox="1"/>
          <p:nvPr/>
        </p:nvSpPr>
        <p:spPr>
          <a:xfrm>
            <a:off x="4434840" y="16459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Power BI (DAX)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15"/>
          <p:cNvSpPr txBox="1"/>
          <p:nvPr/>
        </p:nvSpPr>
        <p:spPr>
          <a:xfrm>
            <a:off x="4434840" y="2148840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Dashboard visuals — segmentation, deciles, revenue trend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15"/>
          <p:cNvSpPr/>
          <p:nvPr/>
        </p:nvSpPr>
        <p:spPr>
          <a:xfrm>
            <a:off x="7863840" y="1371600"/>
            <a:ext cx="3429000" cy="1920240"/>
          </a:xfrm>
          <a:prstGeom prst="rect">
            <a:avLst/>
          </a:prstGeom>
          <a:solidFill>
            <a:srgbClr val="F7F9F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5"/>
          <p:cNvSpPr/>
          <p:nvPr/>
        </p:nvSpPr>
        <p:spPr>
          <a:xfrm>
            <a:off x="7863840" y="1371600"/>
            <a:ext cx="3429000" cy="109728"/>
          </a:xfrm>
          <a:prstGeom prst="rect">
            <a:avLst/>
          </a:prstGeom>
          <a:solidFill>
            <a:srgbClr val="E8A33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5"/>
          <p:cNvSpPr txBox="1"/>
          <p:nvPr/>
        </p:nvSpPr>
        <p:spPr>
          <a:xfrm>
            <a:off x="8092440" y="164592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600"/>
              <a:buFont typeface="Cambria"/>
              <a:buNone/>
            </a:pPr>
            <a:r>
              <a:rPr lang="en-US" sz="1600" b="1">
                <a:solidFill>
                  <a:srgbClr val="1B2A4A"/>
                </a:solidFill>
                <a:latin typeface="Cambria"/>
                <a:ea typeface="Cambria"/>
                <a:cs typeface="Cambria"/>
                <a:sym typeface="Cambria"/>
              </a:rPr>
              <a:t>Python (pandas)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15"/>
          <p:cNvSpPr txBox="1"/>
          <p:nvPr/>
        </p:nvSpPr>
        <p:spPr>
          <a:xfrm>
            <a:off x="8092440" y="2148840"/>
            <a:ext cx="29718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Cross-validation of SQL / Power BI results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15"/>
          <p:cNvSpPr txBox="1"/>
          <p:nvPr/>
        </p:nvSpPr>
        <p:spPr>
          <a:xfrm>
            <a:off x="548640" y="3657600"/>
            <a:ext cx="54864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9722B"/>
              </a:buClr>
              <a:buSzPts val="1200"/>
              <a:buFont typeface="Calibri"/>
              <a:buNone/>
            </a:pPr>
            <a:r>
              <a:rPr lang="en-US" sz="1200" b="1">
                <a:solidFill>
                  <a:srgbClr val="C9722B"/>
                </a:solidFill>
                <a:latin typeface="Calibri"/>
                <a:ea typeface="Calibri"/>
                <a:cs typeface="Calibri"/>
                <a:sym typeface="Calibri"/>
              </a:rPr>
              <a:t>METHOD SUMMARY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15"/>
          <p:cNvSpPr/>
          <p:nvPr/>
        </p:nvSpPr>
        <p:spPr>
          <a:xfrm>
            <a:off x="548640" y="4069080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5"/>
          <p:cNvSpPr txBox="1"/>
          <p:nvPr/>
        </p:nvSpPr>
        <p:spPr>
          <a:xfrm>
            <a:off x="548640" y="4069080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Calibri"/>
              <a:buNone/>
            </a:pPr>
            <a:r>
              <a:rPr lang="en-US" sz="104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0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5"/>
          <p:cNvSpPr txBox="1"/>
          <p:nvPr/>
        </p:nvSpPr>
        <p:spPr>
          <a:xfrm>
            <a:off x="1143000" y="4023360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Raw data loaded to SQL Server → cleaned (missing/adjustment rows removed, types fixed)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5"/>
          <p:cNvSpPr/>
          <p:nvPr/>
        </p:nvSpPr>
        <p:spPr>
          <a:xfrm>
            <a:off x="548640" y="4636008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5"/>
          <p:cNvSpPr txBox="1"/>
          <p:nvPr/>
        </p:nvSpPr>
        <p:spPr>
          <a:xfrm>
            <a:off x="548640" y="4636008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Calibri"/>
              <a:buNone/>
            </a:pPr>
            <a:r>
              <a:rPr lang="en-US" sz="104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0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15"/>
          <p:cNvSpPr txBox="1"/>
          <p:nvPr/>
        </p:nvSpPr>
        <p:spPr>
          <a:xfrm>
            <a:off x="1143000" y="4590288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Recency, Frequency, Monetary computed per customer; scored 1–5 with NTILE, tie-broken by CustomerID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15"/>
          <p:cNvSpPr/>
          <p:nvPr/>
        </p:nvSpPr>
        <p:spPr>
          <a:xfrm>
            <a:off x="548640" y="5202936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5"/>
          <p:cNvSpPr txBox="1"/>
          <p:nvPr/>
        </p:nvSpPr>
        <p:spPr>
          <a:xfrm>
            <a:off x="548640" y="5202936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Calibri"/>
              <a:buNone/>
            </a:pPr>
            <a:r>
              <a:rPr lang="en-US" sz="104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0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5"/>
          <p:cNvSpPr txBox="1"/>
          <p:nvPr/>
        </p:nvSpPr>
        <p:spPr>
          <a:xfrm>
            <a:off x="1143000" y="5157216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Scores combined into RFM Codes and rule-based segments; customers ranked into 10 revenue deciles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5"/>
          <p:cNvSpPr/>
          <p:nvPr/>
        </p:nvSpPr>
        <p:spPr>
          <a:xfrm>
            <a:off x="548640" y="5769864"/>
            <a:ext cx="365760" cy="36576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5"/>
          <p:cNvSpPr txBox="1"/>
          <p:nvPr/>
        </p:nvSpPr>
        <p:spPr>
          <a:xfrm>
            <a:off x="548640" y="5769864"/>
            <a:ext cx="36576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40"/>
              <a:buFont typeface="Calibri"/>
              <a:buNone/>
            </a:pPr>
            <a:r>
              <a:rPr lang="en-US" sz="104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04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 txBox="1"/>
          <p:nvPr/>
        </p:nvSpPr>
        <p:spPr>
          <a:xfrm>
            <a:off x="1143000" y="5724144"/>
            <a:ext cx="996696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3A4459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3A4459"/>
                </a:solidFill>
                <a:latin typeface="Calibri"/>
                <a:ea typeface="Calibri"/>
                <a:cs typeface="Calibri"/>
                <a:sym typeface="Calibri"/>
              </a:rPr>
              <a:t>Single source-of-truth table (rfm_final_v2) feeds Power BI dashboard and DAX measures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5"/>
          <p:cNvSpPr txBox="1"/>
          <p:nvPr/>
        </p:nvSpPr>
        <p:spPr>
          <a:xfrm>
            <a:off x="11640312" y="6446520"/>
            <a:ext cx="365760" cy="2743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rgbClr val="6B7385"/>
              </a:buClr>
              <a:buSzPts val="1000"/>
              <a:buFont typeface="Calibri"/>
              <a:buNone/>
            </a:pPr>
            <a:r>
              <a:rPr lang="en-US" sz="1000">
                <a:solidFill>
                  <a:srgbClr val="6B7385"/>
                </a:solidFill>
                <a:latin typeface="Calibri"/>
                <a:ea typeface="Calibri"/>
                <a:cs typeface="Calibri"/>
                <a:sym typeface="Calibri"/>
              </a:rPr>
              <a:t>13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21F38"/>
        </a:solidFill>
        <a:effectLst/>
      </p:bgPr>
    </p:bg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6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6"/>
          <p:cNvSpPr/>
          <p:nvPr/>
        </p:nvSpPr>
        <p:spPr>
          <a:xfrm>
            <a:off x="-1645920" y="4754880"/>
            <a:ext cx="3657600" cy="365760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6"/>
          <p:cNvSpPr txBox="1"/>
          <p:nvPr/>
        </p:nvSpPr>
        <p:spPr>
          <a:xfrm>
            <a:off x="822960" y="2377440"/>
            <a:ext cx="9144000" cy="10058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mbria"/>
              <a:buNone/>
            </a:pPr>
            <a:r>
              <a:rPr lang="en-US" sz="4400" b="1">
                <a:solidFill>
                  <a:srgbClr val="FFFFFF"/>
                </a:solidFill>
                <a:latin typeface="Cambria"/>
                <a:ea typeface="Cambria"/>
                <a:cs typeface="Cambria"/>
                <a:sym typeface="Cambria"/>
              </a:rPr>
              <a:t>Thank You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6"/>
          <p:cNvSpPr txBox="1"/>
          <p:nvPr/>
        </p:nvSpPr>
        <p:spPr>
          <a:xfrm>
            <a:off x="822960" y="3246120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1500"/>
              <a:buFont typeface="Calibri"/>
              <a:buNone/>
            </a:pPr>
            <a:r>
              <a:rPr lang="en-US" sz="1500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Questions &amp; discussion welcome.</a:t>
            </a:r>
            <a:endParaRPr sz="15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16"/>
          <p:cNvSpPr txBox="1"/>
          <p:nvPr/>
        </p:nvSpPr>
        <p:spPr>
          <a:xfrm>
            <a:off x="822960" y="42062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Calibri"/>
              <a:buNone/>
            </a:pPr>
            <a:r>
              <a:rPr lang="en-US" sz="16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Kusam Bhagat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16"/>
          <p:cNvSpPr txBox="1"/>
          <p:nvPr/>
        </p:nvSpPr>
        <p:spPr>
          <a:xfrm>
            <a:off x="822960" y="4572000"/>
            <a:ext cx="73152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CFE0F5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CFE0F5"/>
                </a:solidFill>
                <a:latin typeface="Calibri"/>
                <a:ea typeface="Calibri"/>
                <a:cs typeface="Calibri"/>
                <a:sym typeface="Calibri"/>
              </a:rPr>
              <a:t>Data Analyst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16"/>
          <p:cNvSpPr txBox="1"/>
          <p:nvPr/>
        </p:nvSpPr>
        <p:spPr>
          <a:xfrm>
            <a:off x="822960" y="4937760"/>
            <a:ext cx="8229600" cy="320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E8A33D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E8A33D"/>
                </a:solidFill>
                <a:latin typeface="Calibri"/>
                <a:ea typeface="Calibri"/>
                <a:cs typeface="Calibri"/>
                <a:sym typeface="Calibri"/>
              </a:rPr>
              <a:t>linkedin.com/in/kusam-bhagat   |   github.com/kusambhagat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1200</Words>
  <Application>Microsoft Office PowerPoint</Application>
  <PresentationFormat>Widescreen</PresentationFormat>
  <Paragraphs>182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Mohit Bhagat</cp:lastModifiedBy>
  <cp:revision>1</cp:revision>
  <dcterms:modified xsi:type="dcterms:W3CDTF">2026-09-22T15:56:48Z</dcterms:modified>
</cp:coreProperties>
</file>